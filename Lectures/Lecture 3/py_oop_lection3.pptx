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73" r:id="rId7"/>
    <p:sldId id="272" r:id="rId8"/>
    <p:sldId id="266" r:id="rId9"/>
    <p:sldId id="267" r:id="rId10"/>
    <p:sldId id="274" r:id="rId11"/>
    <p:sldId id="269" r:id="rId12"/>
    <p:sldId id="280" r:id="rId13"/>
    <p:sldId id="281" r:id="rId14"/>
    <p:sldId id="282" r:id="rId15"/>
    <p:sldId id="260" r:id="rId16"/>
    <p:sldId id="283" r:id="rId17"/>
    <p:sldId id="275" r:id="rId18"/>
    <p:sldId id="261" r:id="rId19"/>
    <p:sldId id="262" r:id="rId20"/>
    <p:sldId id="26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6C748-A84E-489A-A62C-84C1207057F9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6FF464-E2B7-49C8-85B1-3AA7B8B423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58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FC5C1-C2F3-2E1E-6008-0BD1302A3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A450B0-6AE4-C4DC-4B94-9ED679EC7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6ACCAF-DE5E-3260-BD13-5807BB90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0C75-5C85-48B2-9C5F-9E765DA8E32A}" type="datetime1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E64DF9-BCD0-FDF9-2C6B-7E670080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AD5B76-5B20-4C60-A7D5-687BB303B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16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887C95-9C5F-DCB8-D7E7-A770D5A48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51CA6A-FF11-3848-C77E-E3FF7423A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A632D6-ABF7-A5B8-2BA8-9AB51F55E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8ED01-8C37-453F-9BF9-72385FDE2B82}" type="datetime1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376119-7A66-CA12-74D7-4790998CA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5D4D89-44CC-181D-791A-CB33A9F9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555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42A11-95FB-FFBF-050C-9C75F75F5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C8A5A9-78CD-EA11-14B6-3B651B5D1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C87803-83F3-E341-FB23-DFC5DCB1C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4016-F2D2-4AD0-87E7-43168F74A3BC}" type="datetime1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C16B3C-CE22-E512-C0E5-F2CA0269B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B47DBE-D701-69F4-8057-E4DBDE28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372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A17D3-E58B-9768-526D-B87BFFA87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6AD919-FEFB-D93D-1F53-64269E280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8A95E3-9446-FB40-38C1-E86E0A389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99BFDF-B91D-9B6D-7E6B-62BE67AD5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49DE-8DB2-40E1-86AD-38CA0C22F08F}" type="datetime1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6D39BC-7DC1-8CB8-E696-F9FD5CBB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762FB2-C954-1123-EE00-765B9970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42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1706E-63A3-4F83-3623-3877B6324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A49195-E379-73BD-621B-088632546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C1A320B-EF1E-F1E1-3C2A-385AA501A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D45B08-B1E1-D098-7B51-0415CFAF9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AA6D63-D7F9-87F3-7556-6C33F785C5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1019B7F-20E8-452E-FBA5-2074C6F2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9CD5-3791-442E-8DBB-6494B5BA1F0F}" type="datetime1">
              <a:rPr lang="ru-RU" smtClean="0"/>
              <a:t>17.04.2026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1A7CB13-D692-C6F5-5533-B4D07A9C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DAA57D-836E-9F69-7822-087448D1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541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4E836F-2F91-A3BF-49D8-D0FB96037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8AD97E-4494-F07C-4B3C-B26BB98D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B92EC-48ED-4444-8796-A4F7D0BD3014}" type="datetime1">
              <a:rPr lang="ru-RU" smtClean="0"/>
              <a:t>17.04.2026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2D4AFE3-83DE-F536-38EE-C5D6723DD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BE722C9-0D71-1C1C-4E45-2B8B2808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71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D881AF-5A44-A17D-F739-7F9E2426F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8C09-64A3-4C9A-B355-8EB4A767B163}" type="datetime1">
              <a:rPr lang="ru-RU" smtClean="0"/>
              <a:t>17.04.2026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A9C63F-6B04-AE67-B35F-9C1006063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A8EFF9-4D3D-1F07-3159-B7134CA08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913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F6D0F-F08C-3776-74FD-0D0B89C0F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E48A8E-4069-A628-7CAC-0DD3DA46E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53B199-AEA2-154E-4AE9-170627134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47DE64-2B35-3036-308E-4F47B653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3CB6-4531-457E-AB54-6542AD2A9F4C}" type="datetime1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3E059E-A084-B00C-B2FE-9CAE08703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3FE2F9-7E4F-08A8-8EC3-B8DA6991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916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8EB764-5D7B-9BD1-EE48-6C997F350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D54E49F-94DC-4D7A-6B42-6CB3D6688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16BDBD-8AB0-48B7-F6B2-C640C1C56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962771-4D9D-A7E3-3BE3-6A41A05B3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E8BF-5737-412E-99A9-CECAA6DB5EFF}" type="datetime1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34D876-9675-E726-25C5-FAD76F47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433D70-A896-DCA2-259B-F5857DBCC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758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C3DD9-1B85-A07A-AD38-61C53FEA2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C51CB67-3392-9AEF-799C-4C22C88E3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071685-4A35-B8A5-ADC1-9BE65E08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4E09B-9F02-4767-9E6F-E687EC65F941}" type="datetime1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C3053B-927D-0C25-2FE2-7B179012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23D319-3B14-749F-7332-3F85CD7E1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373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165117A-424F-FB8C-DBD2-DB0C76926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AD3334-CA77-AD30-EDA8-264185B8A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84808C-C4EF-D583-1464-7A30B1B02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FF072-A565-4AE0-B471-76FB12EEDDC8}" type="datetime1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43CAC0-9891-0F70-986A-9848E30F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EA2E4F-01FE-4760-F969-975B0862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054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8F1FA-5F71-C7E4-D2C5-E46828431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CE20B3-B8CA-CC62-A7D8-E8BF394A3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7770A9-B756-4C1D-D561-182C8EA4A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1FF9-D86E-455E-BAD2-DD824E525448}" type="datetime1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1084FC-BF54-2E0D-9A48-1C7B9A65A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1A0F56-962D-3999-6067-33E60E102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601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F32BA-636D-23C2-18CF-C280928E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0833DE-EEFA-A629-2397-87B709BEA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426D78-C6C9-8F34-063A-D224131F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F54A-2D85-40CD-A328-0C0939F75339}" type="datetime1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2235FA-AA40-5ECB-8AF9-8BD2B2A10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7CB764-BA7A-176F-3001-742E1B69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801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788E24-0647-C667-9D23-664068D03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2FB787-3B18-E4E6-7385-3064D2636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48C2BF-508E-D159-EF39-CDBAFBE8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D7F1-771A-4A11-B9B4-FFA835DE5D89}" type="datetime1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CB9DD3-0B85-8D89-344D-78EBE3D5A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A18029-BA01-62F1-3813-CBE031E01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74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2C524-40E9-C82D-D879-718FAC666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DFF97-8A9F-576F-C038-110564917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81F794-2E57-1552-132D-123EC9027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5D16760-D51F-8584-7699-ECA73A49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4915B-4F6E-4E44-A454-E01932D34C73}" type="datetime1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0FE65C-1A34-717A-D5EC-CAED99F0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68721B-143D-DEF3-BF66-0F0B839E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027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C6E85-BB65-C0D5-BF8C-8B7D7A7D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00291E-98C1-0840-1EFB-11917FB47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B4DBD3-617A-483D-62E4-1B928845C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26812B-D651-9E85-010D-6FC156A5D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8F0C872-0FBF-1BDD-C86B-6A837B8A3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230C0D8-C3A7-D263-F325-B8471444F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E277-B91F-4C64-A18F-AD7F8DA6CBCC}" type="datetime1">
              <a:rPr lang="ru-RU" smtClean="0"/>
              <a:t>17.04.2026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30B721D-C275-DA8B-72DC-6160F307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1E278F9-FE06-51EE-DDC1-1B19D6E3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5110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23FE66-2EFA-031C-B9E7-C71AB56CB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76151C-A155-52D0-23A8-CD518A6D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05AA-F1EC-49BD-A4DC-C073FEEEF978}" type="datetime1">
              <a:rPr lang="ru-RU" smtClean="0"/>
              <a:t>17.04.2026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09907AD-ACC2-F2C1-DF4B-1EBA05184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E1FC23-E95D-67A5-0E24-A18F1916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263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6793F9D-5308-E12A-1343-E8C9E58D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DD501-E9BA-4D1D-9CB4-AE3AC4E4BA0C}" type="datetime1">
              <a:rPr lang="ru-RU" smtClean="0"/>
              <a:t>17.04.2026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6364EB7-F980-143A-93A8-47ADF6F7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CFB16-0851-78BF-8892-C401FAED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345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EB21F2-0A20-E889-AC4B-EB6A02790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8E33EE-0EDB-7F3C-3870-2B97C1A20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6F0047-6CD7-926C-EE37-1FEA1BACD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5C20F7-68FB-FE6E-AE1F-F03E18478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1A34-198D-4FB1-85C4-C5475F9C19E7}" type="datetime1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0541DE-A225-01F7-4671-88CFFD2E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61D251-2627-650C-7A40-736BC026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576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F6F9D-AF4E-28D4-3609-D390EED18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C374FD1-7DD5-A4BF-AAF0-59DF64DD67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83CF3B-AAEB-D3B0-A8F3-7CE326583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4B77B2-80BC-65D5-4F64-2D89C87F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B2C59-5075-4F1B-B005-93D832210A63}" type="datetime1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C0F3CE-6BF5-4DEB-4467-5E66FB946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AAC570-2814-3EC1-7E34-81AB64AAE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2646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804FBD-E427-8211-2AD3-E52E1E6F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7AEA81-C33E-BCAF-5471-97D0645AF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230C69-E5E8-AFFC-1295-2F86CEF3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26BE-4D93-4526-BE27-1EA2CB4A6217}" type="datetime1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C7EB66-0C74-EF20-F661-E1189AD96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3AA986-9FDD-1DA8-35C7-24B598F8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546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45321FC-058E-5330-E908-7499D6289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814DDA-26F5-0598-8E12-6822E4C8F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84EBED-6910-9014-C111-BA9BC2BA8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BC69-0DAD-4E9D-BD96-47F8C772037A}" type="datetime1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87C751-62DB-0312-4608-31897D6A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C81AA8-1976-1702-F3F4-8A15BFC61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502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913027-87A2-674B-DF64-0DEA1C0F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CEE97A-13DE-5348-88D0-93CD779E8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27B57F-2B6D-7D06-4E9F-ED04A3970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70BB9-4C47-4DF0-8990-A3EBACCB278C}" type="datetime1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360D6-DC2A-1139-B391-AC3D8CBDB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7D5E85-D21E-6E69-6891-2204ECDDD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23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0EF94-4069-F589-C61F-649168743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7D4C82-8752-B185-6BEE-1C3573AED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61B311-FA68-8FDB-CBAC-508E3A4BA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285A6-062D-4BE9-ACE1-0DCAFD12EAF9}" type="datetime1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7C1DEB-2345-1FD7-1CE7-37F0BB918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4CBF84-0A21-9ACE-9C6F-D5F670F03B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717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wDawnPRG/1580_9_lab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E1EDE8-F1A0-95AF-8036-85F76AEBF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62391C-8AA6-D199-5718-301F682B6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96" y="1717565"/>
            <a:ext cx="3035420" cy="3422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5EE51F-EE1C-F112-902B-90EA3F6A9C26}"/>
              </a:ext>
            </a:extLst>
          </p:cNvPr>
          <p:cNvSpPr txBox="1"/>
          <p:nvPr/>
        </p:nvSpPr>
        <p:spPr>
          <a:xfrm>
            <a:off x="5257800" y="1687927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Магические методы</a:t>
            </a:r>
          </a:p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(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aka </a:t>
            </a:r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Перегрузки)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459876-D20D-9163-62F5-DEF2838E4829}"/>
              </a:ext>
            </a:extLst>
          </p:cNvPr>
          <p:cNvSpPr txBox="1"/>
          <p:nvPr/>
        </p:nvSpPr>
        <p:spPr>
          <a:xfrm>
            <a:off x="5257800" y="364236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Введение в ООП на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Python</a:t>
            </a:r>
            <a:endParaRPr lang="ru-RU" sz="24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algn="ctr"/>
            <a:endParaRPr lang="en-US" sz="24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algn="ctr"/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Калмыков Александр Юрьевич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algn="ctr"/>
            <a:endParaRPr lang="en-US" sz="24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  <a:hlinkClick r:id="rId3"/>
              </a:rPr>
              <a:t>GitHub</a:t>
            </a:r>
            <a:endParaRPr lang="ru-RU" sz="24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125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B009EB-C9C1-14CA-96FB-F60AE8CE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2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58E8E-A3F9-C124-A9C4-206515E683F0}"/>
              </a:ext>
            </a:extLst>
          </p:cNvPr>
          <p:cNvSpPr txBox="1"/>
          <p:nvPr/>
        </p:nvSpPr>
        <p:spPr>
          <a:xfrm>
            <a:off x="3048000" y="43375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Планы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43139-79D9-2A14-2C68-26E4BC21D7E3}"/>
              </a:ext>
            </a:extLst>
          </p:cNvPr>
          <p:cNvSpPr txBox="1"/>
          <p:nvPr/>
        </p:nvSpPr>
        <p:spPr>
          <a:xfrm>
            <a:off x="272452" y="1035889"/>
            <a:ext cx="74439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План лекции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Что такое перегрузка операторов и зачем она нужна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Перегрузка в классических языках (C++, C#, 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Pascal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Общие черты классической перегрузки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Магические методы в Python: отличие от классических языков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Как работают магические методы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Основные группы магических методов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Жизненный цикл объекта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Представление объекта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Арифметические операторы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Операторы сравнения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Методы контейнеров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Вызов объекта как функции (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call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Менеджеры контекста (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with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Технические ограничения и особенности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Сводная таблица основных магических методов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Где найти полный список (ссылка на документацию)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E73CB21-29EA-7D4F-F042-5112C418F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9722" y="1542408"/>
            <a:ext cx="4215882" cy="421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944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41237A-7B59-6AFA-0526-97FDC8F9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3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BF5C0-C9BE-5F91-7A63-6AD4005B49CE}"/>
              </a:ext>
            </a:extLst>
          </p:cNvPr>
          <p:cNvSpPr txBox="1"/>
          <p:nvPr/>
        </p:nvSpPr>
        <p:spPr>
          <a:xfrm>
            <a:off x="1735494" y="433755"/>
            <a:ext cx="89014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Что есть перегрузка?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B977E9-91C8-7046-B9DA-1235B06442FE}"/>
              </a:ext>
            </a:extLst>
          </p:cNvPr>
          <p:cNvSpPr txBox="1"/>
          <p:nvPr/>
        </p:nvSpPr>
        <p:spPr>
          <a:xfrm>
            <a:off x="6324186" y="1278037"/>
            <a:ext cx="532041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Перегрузка операторов — это механизм, позволяющий определить поведение встроенных операторов языка</a:t>
            </a:r>
          </a:p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(например, + , - , * , == , [] , () ) для пользовательских типов данных. Это делает код более интуитивным и читаемым, приближая работу с объектами к работе со встроенными типами.</a:t>
            </a:r>
          </a:p>
          <a:p>
            <a:endParaRPr lang="ru-RU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r>
              <a:rPr lang="ru-RU" i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Аналогия: представьте, что вы учите робота готовить. Вы говорите ему: «Смешай муку и воду». Робот понимает, что значит «смешать» для жидкостей, но если вы попросите «смешай гитару и стул», он будет в замешательстве. Перегрузка — это когда мы объясняем роботу: «Когда видишь гитару и стул, смешивание означает положить гитару на стул».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7B4264D-BE3B-4156-C8E5-E99F9A4093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2" t="962" r="332" b="2644"/>
          <a:stretch/>
        </p:blipFill>
        <p:spPr bwMode="auto">
          <a:xfrm>
            <a:off x="375612" y="1735494"/>
            <a:ext cx="5720387" cy="3807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265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60A6FA-F06B-9909-DB5E-33C998D5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4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8AF66-B6E3-7EC5-CDF3-C7531622C4C7}"/>
              </a:ext>
            </a:extLst>
          </p:cNvPr>
          <p:cNvSpPr txBox="1"/>
          <p:nvPr/>
        </p:nvSpPr>
        <p:spPr>
          <a:xfrm>
            <a:off x="924560" y="393115"/>
            <a:ext cx="10342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Классический пример перегрузки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ABBF3B-2F9C-FB11-C7E2-6CAFC1D4C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2" y="2519265"/>
            <a:ext cx="2765211" cy="166454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085AFC-DFC0-8DDD-BD3D-0A535E4DE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239" y="2518950"/>
            <a:ext cx="4117241" cy="166801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EC05A6F-DEC9-C50B-8491-CC78846FA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566" y="2518950"/>
            <a:ext cx="4691279" cy="16680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27A652-D179-97E6-3AD7-B814CCED9065}"/>
              </a:ext>
            </a:extLst>
          </p:cNvPr>
          <p:cNvSpPr txBox="1"/>
          <p:nvPr/>
        </p:nvSpPr>
        <p:spPr>
          <a:xfrm>
            <a:off x="1177330" y="4478438"/>
            <a:ext cx="10713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C++</a:t>
            </a:r>
            <a:endParaRPr lang="ru-RU" sz="2400" i="1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3E7059-323E-B8DF-FCB4-9FA6C152C507}"/>
              </a:ext>
            </a:extLst>
          </p:cNvPr>
          <p:cNvSpPr txBox="1"/>
          <p:nvPr/>
        </p:nvSpPr>
        <p:spPr>
          <a:xfrm>
            <a:off x="4884693" y="4478438"/>
            <a:ext cx="10713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C#</a:t>
            </a:r>
            <a:endParaRPr lang="ru-RU" sz="2400" i="1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89B127-C3A2-3B7C-6DF2-0C61D8B10633}"/>
              </a:ext>
            </a:extLst>
          </p:cNvPr>
          <p:cNvSpPr txBox="1"/>
          <p:nvPr/>
        </p:nvSpPr>
        <p:spPr>
          <a:xfrm>
            <a:off x="9289159" y="4478438"/>
            <a:ext cx="10713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Pascal</a:t>
            </a:r>
            <a:endParaRPr lang="ru-RU" sz="2400" i="1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458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60A6FA-F06B-9909-DB5E-33C998D5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5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8AF66-B6E3-7EC5-CDF3-C7531622C4C7}"/>
              </a:ext>
            </a:extLst>
          </p:cNvPr>
          <p:cNvSpPr txBox="1"/>
          <p:nvPr/>
        </p:nvSpPr>
        <p:spPr>
          <a:xfrm>
            <a:off x="924560" y="393115"/>
            <a:ext cx="10342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Общие черты классической перегрузки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FD5FA-B613-D55B-0459-0465591A045B}"/>
              </a:ext>
            </a:extLst>
          </p:cNvPr>
          <p:cNvSpPr txBox="1"/>
          <p:nvPr/>
        </p:nvSpPr>
        <p:spPr>
          <a:xfrm>
            <a:off x="5731484" y="1694077"/>
            <a:ext cx="630500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• Статическая типизация: компилятор точно знает, какой оператор вызывается на основе типов операндов.</a:t>
            </a:r>
          </a:p>
          <a:p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• Специальный синтаксис: ключевое слово 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operator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и строго определённые сигнатуры методов.</a:t>
            </a:r>
          </a:p>
          <a:p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• Ограничения на перегрузку: не все операторы можно перегрузить, некоторые имеют обязательные парные перегрузки (например, если перегружен == , обычно требуется перегрузить и != ).</a:t>
            </a:r>
          </a:p>
          <a:p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• Приоритет операторов сохраняется и не может быть изменён программистом.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2D1E556-FE2B-AED3-11E6-A04A742F92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47" t="145" r="9237" b="7271"/>
          <a:stretch/>
        </p:blipFill>
        <p:spPr bwMode="auto">
          <a:xfrm>
            <a:off x="924560" y="2289735"/>
            <a:ext cx="3881535" cy="268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107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60A6FA-F06B-9909-DB5E-33C998D5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6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8AF66-B6E3-7EC5-CDF3-C7531622C4C7}"/>
              </a:ext>
            </a:extLst>
          </p:cNvPr>
          <p:cNvSpPr txBox="1"/>
          <p:nvPr/>
        </p:nvSpPr>
        <p:spPr>
          <a:xfrm>
            <a:off x="924560" y="393115"/>
            <a:ext cx="10342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Как Python отличается от классических языков?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FD5FA-B613-D55B-0459-0465591A045B}"/>
              </a:ext>
            </a:extLst>
          </p:cNvPr>
          <p:cNvSpPr txBox="1"/>
          <p:nvPr/>
        </p:nvSpPr>
        <p:spPr>
          <a:xfrm>
            <a:off x="199923" y="1089164"/>
            <a:ext cx="77904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Python, будучи языком с динамической типизацией, пошёл другим путём. Вместо ключевого слова 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operator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и статических сигнатур, он использует специальные методы с заранее определёнными именами, которые окружены двумя подчёркиваниями с обеих сторон: __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add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__, __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eq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__, __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str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__ и т.д. Эти методы называют магическими (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magic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methods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) или 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дандер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-методами (от 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double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underscore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— 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dunder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).</a:t>
            </a:r>
          </a:p>
          <a:p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Когда интерпретатор Python встречает выражение a + b, он не проверяет типы на этапе компиляции, а динамически ищет метод __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add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__ у объекта a и вызывает его, передавая b как аргумент. Если метод не найден, то ищется __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radd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__ у b (об этом позже). Если ни один не определён, генерируется 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TypeError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.</a:t>
            </a:r>
          </a:p>
          <a:p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Таким образом, магические методы в Python — это реализация перегрузки операторов через соглашение об именах, а не через специальный синтаксис языка. Это делает перегрузку более гибкой и однородной с остальными методами класса.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BF638502-10C6-409F-B142-67F7C075C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553" y="2146040"/>
            <a:ext cx="3908524" cy="295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2735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7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128520" y="474395"/>
            <a:ext cx="7934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Как оно работается?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917AA6-D101-3984-322D-83B9B52CC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89" y="1914409"/>
            <a:ext cx="5605511" cy="46991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68A5C6-825F-9B25-5769-BE554664DC79}"/>
              </a:ext>
            </a:extLst>
          </p:cNvPr>
          <p:cNvSpPr txBox="1"/>
          <p:nvPr/>
        </p:nvSpPr>
        <p:spPr>
          <a:xfrm>
            <a:off x="199922" y="1089164"/>
            <a:ext cx="1159397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Когда вы пишете выражение с оператором, интерпретатор транслирует его в вызов соответствующего магического метода. Вот несколько примеров:</a:t>
            </a:r>
          </a:p>
          <a:p>
            <a:endParaRPr lang="ru-RU" sz="2000" b="1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endParaRPr lang="ru-RU" sz="2000" b="1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endParaRPr lang="ru-RU" sz="2000" b="1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endParaRPr lang="ru-RU" sz="2000" b="1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							</a:t>
            </a:r>
            <a:r>
              <a:rPr lang="ru-RU" sz="2000" b="1" i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Важно: Python не требует, чтобы эти 							методы возвращали значение строго 							определённого типа. Вы можете 								вернуть что угодно, но следует 								придерживаться здравого смысла, 								чтобы не нарушать ожидания 								пользователей вашего класса.</a:t>
            </a:r>
          </a:p>
        </p:txBody>
      </p:sp>
    </p:spTree>
    <p:extLst>
      <p:ext uri="{BB962C8B-B14F-4D97-AF65-F5344CB8AC3E}">
        <p14:creationId xmlns:p14="http://schemas.microsoft.com/office/powerpoint/2010/main" val="4052553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8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568960" y="474395"/>
            <a:ext cx="11419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Методы жизненного цикла объекта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6CF8DA-D7B8-DF58-4266-FA96BE9EF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70" y="2671657"/>
            <a:ext cx="7059010" cy="1514686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82AE5130-0962-4850-F224-3CBAAF0F7F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33"/>
          <a:stretch/>
        </p:blipFill>
        <p:spPr bwMode="auto">
          <a:xfrm>
            <a:off x="7969201" y="2279819"/>
            <a:ext cx="3774930" cy="250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860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9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568960" y="474395"/>
            <a:ext cx="11419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Методы представления объекта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9EC6C4B-5B92-A489-9106-EAE0063A9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35" y="1255468"/>
            <a:ext cx="6245713" cy="12124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48BF90D-40E6-6F51-DF90-A9DC8C23C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43"/>
          <a:stretch/>
        </p:blipFill>
        <p:spPr>
          <a:xfrm>
            <a:off x="3230611" y="2664217"/>
            <a:ext cx="6096537" cy="371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123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10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128520" y="474395"/>
            <a:ext cx="7934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Арифметические операторы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E81724-AC5F-DF6C-6F77-DA9678D95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47" y="1364283"/>
            <a:ext cx="7563906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74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11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128520" y="474395"/>
            <a:ext cx="7934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Арифметические операторы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14904B-0F3D-238D-C3F9-5FAEF9B49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703" y="1147010"/>
            <a:ext cx="7106642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303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12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128520" y="474395"/>
            <a:ext cx="7934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Операторы сравнения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F12219-E0FF-CB99-02C5-E12904C74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031" y="1259933"/>
            <a:ext cx="7659169" cy="40582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D470D3-F497-EAAF-DE6B-A760859B0DEE}"/>
              </a:ext>
            </a:extLst>
          </p:cNvPr>
          <p:cNvSpPr txBox="1"/>
          <p:nvPr/>
        </p:nvSpPr>
        <p:spPr>
          <a:xfrm>
            <a:off x="464984" y="5449500"/>
            <a:ext cx="113752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Важно: если __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ne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__ не определён, Python автоматически инвертирует результат __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eq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__ (но лучше определять явно). Для операторов порядка, если не определены, при сравнении будет возбуждено исключение 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TypeError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3952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13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128520" y="474395"/>
            <a:ext cx="7934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Операторы сравнения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01EA5A-E990-0755-ECDE-BC25F2280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706" y="1226151"/>
            <a:ext cx="6182588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69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F459AD-B501-8146-B6CD-37C591A7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14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395A93-1644-834D-A881-FCD59289D65A}"/>
              </a:ext>
            </a:extLst>
          </p:cNvPr>
          <p:cNvSpPr txBox="1"/>
          <p:nvPr/>
        </p:nvSpPr>
        <p:spPr>
          <a:xfrm>
            <a:off x="2661920" y="433755"/>
            <a:ext cx="686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Методы контейнеров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D1C39F-1DDF-7E75-09A9-287324AF3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00" y="2114366"/>
            <a:ext cx="7344800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8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F459AD-B501-8146-B6CD-37C591A7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15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395A93-1644-834D-A881-FCD59289D65A}"/>
              </a:ext>
            </a:extLst>
          </p:cNvPr>
          <p:cNvSpPr txBox="1"/>
          <p:nvPr/>
        </p:nvSpPr>
        <p:spPr>
          <a:xfrm>
            <a:off x="2661920" y="433755"/>
            <a:ext cx="686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Методы контейнеров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5847B1-FC8B-CBE7-7436-DBE32DB41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567" y="1018530"/>
            <a:ext cx="5928866" cy="556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1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F459AD-B501-8146-B6CD-37C591A7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16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395A93-1644-834D-A881-FCD59289D65A}"/>
              </a:ext>
            </a:extLst>
          </p:cNvPr>
          <p:cNvSpPr txBox="1"/>
          <p:nvPr/>
        </p:nvSpPr>
        <p:spPr>
          <a:xfrm>
            <a:off x="2661920" y="433755"/>
            <a:ext cx="686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Вызов объекта как функции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1EC9F7-2A95-4080-6144-A1E6E4100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739" y="1731588"/>
            <a:ext cx="6153721" cy="3872742"/>
          </a:xfrm>
          <a:prstGeom prst="rect">
            <a:avLst/>
          </a:prstGeom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5B63A117-DBBF-242E-1652-F32B14686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40" y="1731587"/>
            <a:ext cx="4602581" cy="3872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986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17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661920" y="433755"/>
            <a:ext cx="686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Менеджеры контекста (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with)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</p:txBody>
      </p:sp>
      <p:pic>
        <p:nvPicPr>
          <p:cNvPr id="11269" name="Picture 5">
            <a:extLst>
              <a:ext uri="{FF2B5EF4-FFF2-40B4-BE49-F238E27FC236}">
                <a16:creationId xmlns:a16="http://schemas.microsoft.com/office/drawing/2014/main" id="{91C61AB8-1846-B9F4-5272-B86B71336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92" y="1952322"/>
            <a:ext cx="5255078" cy="2953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26F134-0041-77DB-ECE3-6C258591B923}"/>
              </a:ext>
            </a:extLst>
          </p:cNvPr>
          <p:cNvSpPr txBox="1"/>
          <p:nvPr/>
        </p:nvSpPr>
        <p:spPr>
          <a:xfrm>
            <a:off x="539230" y="2305614"/>
            <a:ext cx="534798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Нужно для работы с файлами. В контексте нашего курса НЕ используется, но для общего понимания, можно разобрать самостоятельно.</a:t>
            </a:r>
          </a:p>
          <a:p>
            <a:endParaRPr lang="ru-RU" sz="2000" b="1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Пример и объяснение есть в лекции на </a:t>
            </a:r>
            <a:r>
              <a:rPr lang="ru-RU" sz="2000" b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гитхабе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8866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18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661920" y="433755"/>
            <a:ext cx="6868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Технические ограничения и особенности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72B717-0088-E1E5-C7B8-DA001E15CE9B}"/>
              </a:ext>
            </a:extLst>
          </p:cNvPr>
          <p:cNvSpPr txBox="1"/>
          <p:nvPr/>
        </p:nvSpPr>
        <p:spPr>
          <a:xfrm>
            <a:off x="301068" y="1510973"/>
            <a:ext cx="1127822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1.	Не все операторы имеют магические методы. Например, нельзя перегрузить логические операторы 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and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, 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or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, 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not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напрямую — они используют приведение к булеву типу через __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bool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__ (или __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len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__ в старых версиях).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2.	Нельзя изменить приоритет операторов. Порядок вычислений остаётся стандартным для Python.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3.	Нельзя изменить ассоциативность (лево- или 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правоассоциативность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).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4.	Магические методы должны быть определены в классе объекта, а не в его 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метаклассе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(за исключением некоторых методов типа __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new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__).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5.	Рекомендуется возвращать 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NotImplemented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при невозможности обработать операцию, а не возбуждать исключение сразу — это даёт шанс правому операнду обработать вызов.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6.	Осторожность с бесконечной рекурсией: внутри метода __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getattribute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__ (перехват любого доступа к атрибутам) легко случайно вызвать рекурсию, если обращаться к 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self.attr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.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7.	Некоторые магические методы ищутся только в классе, а не в экземпляре. Например, __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hash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__, __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getattribute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__, __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setattr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__. Это особенность реализации Python.</a:t>
            </a:r>
          </a:p>
        </p:txBody>
      </p:sp>
    </p:spTree>
    <p:extLst>
      <p:ext uri="{BB962C8B-B14F-4D97-AF65-F5344CB8AC3E}">
        <p14:creationId xmlns:p14="http://schemas.microsoft.com/office/powerpoint/2010/main" val="1757828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19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128520" y="474395"/>
            <a:ext cx="7934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Где почитать?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72B717-0088-E1E5-C7B8-DA001E15CE9B}"/>
              </a:ext>
            </a:extLst>
          </p:cNvPr>
          <p:cNvSpPr txBox="1"/>
          <p:nvPr/>
        </p:nvSpPr>
        <p:spPr>
          <a:xfrm>
            <a:off x="7259218" y="2989095"/>
            <a:ext cx="35549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Документация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Лекция на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Github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Google it :)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B5971D58-6F0C-B8D8-08C0-C4CEEF0B6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127" y="2167405"/>
            <a:ext cx="5102873" cy="2884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09223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901</Words>
  <Application>Microsoft Office PowerPoint</Application>
  <PresentationFormat>Широкоэкранный</PresentationFormat>
  <Paragraphs>95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Sitka Subheading Semibold</vt:lpstr>
      <vt:lpstr>Тема Office</vt:lpstr>
      <vt:lpstr>Специальное оформление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Калмыков</dc:creator>
  <cp:lastModifiedBy>Александр Калмыков</cp:lastModifiedBy>
  <cp:revision>8</cp:revision>
  <dcterms:created xsi:type="dcterms:W3CDTF">2025-10-22T21:40:23Z</dcterms:created>
  <dcterms:modified xsi:type="dcterms:W3CDTF">2026-04-16T23:56:09Z</dcterms:modified>
</cp:coreProperties>
</file>